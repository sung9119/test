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0"/>
  </p:notesMasterIdLst>
  <p:sldIdLst>
    <p:sldId id="1027" r:id="rId3"/>
    <p:sldId id="1047" r:id="rId4"/>
    <p:sldId id="1048" r:id="rId5"/>
    <p:sldId id="1049" r:id="rId6"/>
    <p:sldId id="1045" r:id="rId7"/>
    <p:sldId id="1052" r:id="rId8"/>
    <p:sldId id="105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87F15-AB6F-4C48-B13D-B4AED2990530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330EC-2764-4E45-8DF4-95BA3F11FA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0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14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63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84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78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58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62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algn="l" rtl="0"/>
            <a:endParaRPr lang="en-US" altLang="ko-KR" sz="100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C94D5-8CF0-4BDF-ABFF-B8E2C08F7F7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2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A3CA3-02CE-B397-B77B-803CA33C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B238C4-3BA7-C3EF-FE33-CB3103225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CB544-FD3D-C4F9-1EC6-8C986936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AF989-616D-9F98-8803-71F6E47C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F8C4B-AD64-3096-C57A-1995F537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39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66795-1FFC-666C-13BB-649707CB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0CC7A0-077C-ABFA-31CE-B2D2BBB2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3B089-793C-9C7B-2EA3-689CA302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AC4B67-841F-9637-69F3-31493E01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AE4F0B-FCD4-D095-EEB2-ACB203E1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92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01499-E7C3-08EF-B6C3-D80EFD7F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8A12C1-8534-9DF2-B151-7533AA5EC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1D3C7-4130-29F0-71B7-BC8C0427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BB3E8-72E7-16EB-E006-8B264071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BE82D8-AE0B-F3DD-500A-6917D2D0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6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06EAC-5C25-5509-3469-3854037F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AB71D-B813-FE90-473B-5D4649D19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652B-4727-2723-D826-A26D70BC4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3819CB-DD2D-E6D3-5313-844FC612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4FEFDF-7673-A67A-D750-AB72D802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557F8-E34C-FF91-39A6-06263295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44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2DAA6-D265-D2F4-7E42-65F17A50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425B1C-3FB1-0CDD-FD59-1D03703DF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EECC9-17ED-13B5-9997-148ED6BD0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89C19-25C4-BA9F-7E86-6E80829E6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48B537-22AE-DFCC-B3DC-487DF024F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AE3F96-C738-DF0B-0916-85695EF4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64114B-D036-0028-1C87-B61A44E9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0F3D86-2E63-3F4C-951E-04006631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9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F5FDE-A436-82E2-270B-C13C4CD4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D4CC6F-C894-DBC8-3467-1657A485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7F7415-A96A-7BFD-B98A-9B80F9DF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79DB2C-A595-49B9-CC8F-AD0FAB64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05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DF4D87-62EE-C340-4305-9A91482D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BCA711-616E-312D-9BC6-45FEB45D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14DD1-A3A3-AC0E-7F3E-ED00ED137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101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D0EB3-9E5D-6155-22F7-5F929482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B5D4BE-2B92-5749-EADA-D5A049E2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3111BC-FCC9-CA6C-7B2C-15DDCBEF6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B3F7B6-D3CA-DB4A-F307-9861670A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C8A014-B2CC-E33F-8DBE-E62D900E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E6DA20-02CC-8E8D-6DF0-82967855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26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2E1C2-0AB6-76E9-1A9E-530AD5A0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6B0263-AC84-7B50-AC63-F7E8B14CB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D1269C-7979-9BA1-B6B7-CA7DC6D4A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E2C6F7-47A7-809C-F363-C8C21A8B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74C8A2-2120-E11E-9C12-B9E57F51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88A9C9-65BA-34FC-546C-1046DE27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7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FA283-31FD-364D-1204-1E788E57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27E4A6-23B3-4725-39D0-756A065D5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4D7FA-285F-E1F4-CA01-4268CFE1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AF167-35D3-58E6-4942-9C321120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DCF74-25D5-3505-E34F-7C56BE88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64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C4F322-A3B0-B3B5-9104-D54110CA6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72249A-4336-F37B-08E2-8DBB6D5A5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534F7-C963-025F-3B4E-54087925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22D84-FD0D-C71E-26A1-DD3C7714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6A88B-99D5-2C8A-F5F1-DFB26D88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0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bg>
      <p:bgPr>
        <a:gradFill>
          <a:gsLst>
            <a:gs pos="38000">
              <a:schemeClr val="bg2"/>
            </a:gs>
            <a:gs pos="0">
              <a:srgbClr val="DA1C1C"/>
            </a:gs>
            <a:gs pos="100000">
              <a:schemeClr val="tx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605190" y="6493009"/>
            <a:ext cx="1096793" cy="206103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chemeClr val="bg2"/>
                </a:solidFill>
                <a:latin typeface="Intel Clear"/>
              </a:defRPr>
            </a:lvl1pPr>
          </a:lstStyle>
          <a:p>
            <a:r>
              <a:rPr lang="en-US"/>
              <a:t>4/21/2014</a:t>
            </a:r>
            <a:endParaRPr lang="en-US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>
          <a:xfrm>
            <a:off x="4130565" y="6493009"/>
            <a:ext cx="3920196" cy="206103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chemeClr val="bg2"/>
                </a:solidFill>
                <a:latin typeface="Intel Clear"/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10873" y="1710847"/>
            <a:ext cx="2103672" cy="3436307"/>
            <a:chOff x="458155" y="1281105"/>
            <a:chExt cx="1577754" cy="257723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8155" y="385833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458155" y="128110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609599" y="2291079"/>
            <a:ext cx="9510508" cy="1390364"/>
          </a:xfrm>
        </p:spPr>
        <p:txBody>
          <a:bodyPr anchor="b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 smtClean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3742140"/>
            <a:ext cx="5486401" cy="738235"/>
          </a:xfrm>
        </p:spPr>
        <p:txBody>
          <a:bodyPr anchor="t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67" b="0" i="0" kern="1200" dirty="0" smtClean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481563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5937C8-1C23-41B6-9DDE-BE0FDBE93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03" y="6606162"/>
            <a:ext cx="966328" cy="25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1827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96339"/>
            <a:ext cx="10985771" cy="449813"/>
          </a:xfrm>
        </p:spPr>
        <p:txBody>
          <a:bodyPr/>
          <a:lstStyle>
            <a:lvl1pPr>
              <a:defRPr sz="29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581152"/>
            <a:ext cx="10974531" cy="4595813"/>
          </a:xfrm>
          <a:prstGeom prst="rect">
            <a:avLst/>
          </a:prstGeom>
        </p:spPr>
        <p:txBody>
          <a:bodyPr/>
          <a:lstStyle>
            <a:lvl1pPr>
              <a:lnSpc>
                <a:spcPct val="95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012301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1151"/>
            <a:ext cx="5181600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581151"/>
            <a:ext cx="5181600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062877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1151"/>
            <a:ext cx="5181600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1452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4893262" y="1582463"/>
            <a:ext cx="4165599" cy="1794116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400" b="0" i="0" dirty="0">
                <a:solidFill>
                  <a:srgbClr val="C0181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</a:lstStyle>
          <a:p>
            <a:r>
              <a:rPr lang="en-US"/>
              <a:t>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581151"/>
            <a:ext cx="4184923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57600" y="1582464"/>
            <a:ext cx="1748367" cy="567267"/>
          </a:xfrm>
        </p:spPr>
        <p:txBody>
          <a:bodyPr/>
          <a:lstStyle>
            <a:lvl1pPr marL="0" algn="l" defTabSz="609585" rtl="0" eaLnBrk="1" latinLnBrk="0" hangingPunct="1">
              <a:defRPr lang="en-US" sz="1333" kern="120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</a:lstStyle>
          <a:p>
            <a:r>
              <a:rPr lang="en-US"/>
              <a:t>Image Caption 10pt Gray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9157600" y="3646875"/>
            <a:ext cx="1748367" cy="567267"/>
          </a:xfrm>
        </p:spPr>
        <p:txBody>
          <a:bodyPr/>
          <a:lstStyle>
            <a:lvl1pPr marL="0" algn="l" defTabSz="609585" rtl="0" eaLnBrk="1" latinLnBrk="0" hangingPunct="1">
              <a:defRPr lang="en-US" sz="1333" kern="120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</a:lstStyle>
          <a:p>
            <a:r>
              <a:rPr lang="en-US"/>
              <a:t>Image Caption 10pt Gray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893262" y="3635415"/>
            <a:ext cx="4165599" cy="1794116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400" b="0" i="0" dirty="0">
                <a:solidFill>
                  <a:srgbClr val="C0181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</a:lstStyle>
          <a:p>
            <a:r>
              <a:rPr lang="en-US"/>
              <a:t>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402048413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92567"/>
            <a:ext cx="5181600" cy="57627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492567"/>
            <a:ext cx="5181600" cy="57627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3"/>
          </p:nvPr>
        </p:nvSpPr>
        <p:spPr>
          <a:xfrm>
            <a:off x="609600" y="2155306"/>
            <a:ext cx="5181600" cy="377506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2155306"/>
            <a:ext cx="5181600" cy="377506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609601" y="496339"/>
            <a:ext cx="10974531" cy="4498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68837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ith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89516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961798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51065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4779433" cy="6858000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667" b="0" i="0" dirty="0">
                <a:solidFill>
                  <a:srgbClr val="C0181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defRPr>
            </a:lvl1pPr>
          </a:lstStyle>
          <a:p>
            <a:r>
              <a:rPr lang="en-US"/>
              <a:t>Drag picture to placeholder or click icon to add. You must use a full bleed image to fill this entire space.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181598" y="1068919"/>
            <a:ext cx="6402532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5181598" y="1581151"/>
            <a:ext cx="6400803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181598" y="6317673"/>
            <a:ext cx="6400803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181597" y="496339"/>
            <a:ext cx="6402533" cy="4498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97027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7412569" y="0"/>
            <a:ext cx="4779433" cy="6858000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667" b="0" i="0" dirty="0">
                <a:solidFill>
                  <a:srgbClr val="C0181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</a:lstStyle>
          <a:p>
            <a:r>
              <a:rPr lang="en-US"/>
              <a:t>Drag picture to placeholder or click icon to add. You must use a full bleed image to fill this entire space.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6402532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581151"/>
            <a:ext cx="6400803" cy="434922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09601" y="6317673"/>
            <a:ext cx="6400803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601" y="496339"/>
            <a:ext cx="6400803" cy="4498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848279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530600"/>
            <a:ext cx="12192000" cy="3327400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667" dirty="0" smtClean="0">
                <a:solidFill>
                  <a:srgbClr val="C01818"/>
                </a:solidFill>
              </a:defRPr>
            </a:lvl1pPr>
          </a:lstStyle>
          <a:p>
            <a:r>
              <a:rPr lang="en-US"/>
              <a:t>Drag picture to placeholder or click icon to add. You must use a full bleed image to fill this entire space.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1153"/>
            <a:ext cx="5181600" cy="1847849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581153"/>
            <a:ext cx="5181600" cy="1847849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609601" y="496339"/>
            <a:ext cx="10974531" cy="4498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63649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667" dirty="0" smtClean="0">
                <a:solidFill>
                  <a:srgbClr val="C01818"/>
                </a:solidFill>
              </a:defRPr>
            </a:lvl1pPr>
          </a:lstStyle>
          <a:p>
            <a:r>
              <a:rPr lang="en-US"/>
              <a:t>Drag picture to placeholder or click icon to add. You must use a full bleed image to fill this entire space.</a:t>
            </a:r>
          </a:p>
        </p:txBody>
      </p:sp>
    </p:spTree>
    <p:extLst>
      <p:ext uri="{BB962C8B-B14F-4D97-AF65-F5344CB8AC3E}">
        <p14:creationId xmlns:p14="http://schemas.microsoft.com/office/powerpoint/2010/main" val="3869897846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09599" y="1727212"/>
            <a:ext cx="2103672" cy="3436307"/>
            <a:chOff x="458155" y="1281105"/>
            <a:chExt cx="1577754" cy="2577230"/>
          </a:xfrm>
        </p:grpSpPr>
        <p:cxnSp>
          <p:nvCxnSpPr>
            <p:cNvPr id="4" name="Straight Connector 3"/>
            <p:cNvCxnSpPr/>
            <p:nvPr userDrawn="1"/>
          </p:nvCxnSpPr>
          <p:spPr>
            <a:xfrm>
              <a:off x="458155" y="3858335"/>
              <a:ext cx="1577754" cy="0"/>
            </a:xfrm>
            <a:prstGeom prst="line">
              <a:avLst/>
            </a:prstGeom>
            <a:ln>
              <a:solidFill>
                <a:srgbClr val="5356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 userDrawn="1"/>
          </p:nvCxnSpPr>
          <p:spPr>
            <a:xfrm>
              <a:off x="458155" y="1281105"/>
              <a:ext cx="1577754" cy="0"/>
            </a:xfrm>
            <a:prstGeom prst="line">
              <a:avLst/>
            </a:prstGeom>
            <a:ln>
              <a:solidFill>
                <a:srgbClr val="5356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609599" y="2291079"/>
            <a:ext cx="9510508" cy="1390364"/>
          </a:xfrm>
        </p:spPr>
        <p:txBody>
          <a:bodyPr anchor="b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3742141"/>
            <a:ext cx="5486401" cy="738235"/>
          </a:xfrm>
        </p:spPr>
        <p:txBody>
          <a:bodyPr anchor="t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67" kern="120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75880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5044164" y="4263913"/>
            <a:ext cx="2103672" cy="0"/>
          </a:xfrm>
          <a:prstGeom prst="line">
            <a:avLst/>
          </a:prstGeom>
          <a:ln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5044164" y="752807"/>
            <a:ext cx="2103672" cy="0"/>
          </a:xfrm>
          <a:prstGeom prst="line">
            <a:avLst/>
          </a:prstGeom>
          <a:ln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3163937" y="2262140"/>
            <a:ext cx="5864128" cy="492443"/>
          </a:xfrm>
        </p:spPr>
        <p:txBody>
          <a:bodyPr wrap="square" anchor="ctr">
            <a:spAutoFit/>
          </a:bodyPr>
          <a:lstStyle>
            <a:lvl1pPr marL="0" algn="ctr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30pt Text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3194" y="4644543"/>
            <a:ext cx="5145617" cy="574516"/>
          </a:xfrm>
        </p:spPr>
        <p:txBody>
          <a:bodyPr anchor="ctr">
            <a:spAutoFit/>
          </a:bodyPr>
          <a:lstStyle>
            <a:lvl1pPr marL="0" algn="ctr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67" kern="1200" dirty="0" smtClean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Author</a:t>
            </a:r>
          </a:p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9452570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5044164" y="5144447"/>
            <a:ext cx="2103672" cy="0"/>
          </a:xfrm>
          <a:prstGeom prst="line">
            <a:avLst/>
          </a:prstGeom>
          <a:ln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5044164" y="1633340"/>
            <a:ext cx="2103672" cy="0"/>
          </a:xfrm>
          <a:prstGeom prst="line">
            <a:avLst/>
          </a:prstGeom>
          <a:ln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3523194" y="3121226"/>
            <a:ext cx="5145617" cy="615553"/>
          </a:xfrm>
        </p:spPr>
        <p:txBody>
          <a:bodyPr anchor="ctr">
            <a:spAutoFit/>
          </a:bodyPr>
          <a:lstStyle>
            <a:lvl1pPr marL="0" algn="ctr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 smtClean="0">
                <a:solidFill>
                  <a:srgbClr val="C0181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30pt Text</a:t>
            </a:r>
          </a:p>
        </p:txBody>
      </p:sp>
    </p:spTree>
    <p:extLst>
      <p:ext uri="{BB962C8B-B14F-4D97-AF65-F5344CB8AC3E}">
        <p14:creationId xmlns:p14="http://schemas.microsoft.com/office/powerpoint/2010/main" val="273886136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2" y="486178"/>
            <a:ext cx="10968475" cy="45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Open Sans"/>
              <a:buNone/>
              <a:defRPr sz="2667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1" y="6317673"/>
            <a:ext cx="6802581" cy="17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933"/>
              <a:buFont typeface="Noto Sans Symbols"/>
              <a:buNone/>
              <a:defRPr sz="933" b="0" i="0" u="none" strike="noStrike" cap="none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67"/>
              <a:buFont typeface="Noto Sans Symbol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1754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67"/>
              <a:buFont typeface="Noto Sans Symbols"/>
              <a:buChar char="▪"/>
              <a:defRPr sz="14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1754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67"/>
              <a:buFont typeface="Noto Sans Symbols"/>
              <a:buChar char="▪"/>
              <a:defRPr sz="14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364543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_마스터_레이아웃_서식_복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205154" y="108393"/>
            <a:ext cx="5890846" cy="2492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ko-KR" altLang="en-US" sz="1800" b="1" baseline="0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defTabSz="914400">
              <a:lnSpc>
                <a:spcPct val="90000"/>
              </a:lnSpc>
              <a:spcBef>
                <a:spcPct val="0"/>
              </a:spcBef>
            </a:pPr>
            <a:r>
              <a:rPr lang="ko-KR" altLang="en-US" err="1"/>
              <a:t>대제목</a:t>
            </a:r>
            <a:r>
              <a:rPr lang="ko-KR" altLang="en-US"/>
              <a:t> </a:t>
            </a:r>
            <a:r>
              <a:rPr lang="en-US" altLang="ko-KR"/>
              <a:t>– </a:t>
            </a:r>
            <a:r>
              <a:rPr lang="ko-KR" altLang="en-US" err="1"/>
              <a:t>맑은고딕</a:t>
            </a:r>
            <a:r>
              <a:rPr lang="ko-KR" altLang="en-US"/>
              <a:t> </a:t>
            </a:r>
            <a:r>
              <a:rPr lang="en-US" altLang="ko-KR"/>
              <a:t>Bold, Font 18, </a:t>
            </a:r>
            <a:r>
              <a:rPr lang="ko-KR" altLang="en-US"/>
              <a:t>좌측정렬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336062" y="613590"/>
            <a:ext cx="11519877" cy="6444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buNone/>
              <a:defRPr lang="ko-KR" altLang="en-US" sz="1600" b="1" dirty="0" smtClean="0">
                <a:solidFill>
                  <a:schemeClr val="bg1"/>
                </a:solidFill>
              </a:defRPr>
            </a:lvl1pPr>
            <a:lvl2pPr>
              <a:defRPr lang="ko-KR" altLang="en-US" sz="1900" dirty="0" smtClean="0"/>
            </a:lvl2pPr>
            <a:lvl3pPr>
              <a:defRPr lang="ko-KR" altLang="en-US" sz="1900" dirty="0" smtClean="0"/>
            </a:lvl3pPr>
            <a:lvl4pPr>
              <a:defRPr lang="ko-KR" altLang="en-US" sz="1900" dirty="0" smtClean="0"/>
            </a:lvl4pPr>
            <a:lvl5pPr>
              <a:defRPr lang="ko-KR" altLang="en-US" sz="1900" dirty="0"/>
            </a:lvl5pPr>
          </a:lstStyle>
          <a:p>
            <a:pPr marL="0" lvl="0" algn="just"/>
            <a:r>
              <a:rPr lang="en-US" altLang="ko-KR"/>
              <a:t>Governing Message – </a:t>
            </a:r>
            <a:r>
              <a:rPr lang="ko-KR" altLang="en-US" err="1"/>
              <a:t>맑은고딕</a:t>
            </a:r>
            <a:r>
              <a:rPr lang="ko-KR" altLang="en-US"/>
              <a:t> </a:t>
            </a:r>
            <a:r>
              <a:rPr lang="en-US" altLang="ko-KR"/>
              <a:t>Bold, Font 16, </a:t>
            </a:r>
            <a:r>
              <a:rPr lang="ko-KR" altLang="en-US"/>
              <a:t>좌측정렬</a:t>
            </a:r>
            <a:r>
              <a:rPr lang="en-US" altLang="ko-KR"/>
              <a:t>, </a:t>
            </a:r>
            <a:r>
              <a:rPr lang="ko-KR" altLang="en-US"/>
              <a:t>간결히 작성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6206783" y="108394"/>
            <a:ext cx="5634385" cy="2215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ko-KR" altLang="en-US" sz="1600" b="1" baseline="0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defTabSz="914400">
              <a:lnSpc>
                <a:spcPct val="90000"/>
              </a:lnSpc>
              <a:spcBef>
                <a:spcPct val="0"/>
              </a:spcBef>
            </a:pPr>
            <a:r>
              <a:rPr lang="ko-KR" altLang="en-US" err="1"/>
              <a:t>중제목</a:t>
            </a:r>
            <a:r>
              <a:rPr lang="ko-KR" altLang="en-US"/>
              <a:t> </a:t>
            </a:r>
            <a:r>
              <a:rPr lang="en-US" altLang="ko-KR"/>
              <a:t>– </a:t>
            </a:r>
            <a:r>
              <a:rPr lang="ko-KR" altLang="en-US" err="1"/>
              <a:t>맑은고딕</a:t>
            </a:r>
            <a:r>
              <a:rPr lang="ko-KR" altLang="en-US"/>
              <a:t> </a:t>
            </a:r>
            <a:r>
              <a:rPr lang="en-US" altLang="ko-KR"/>
              <a:t>Bold, Font 16, </a:t>
            </a:r>
            <a:r>
              <a:rPr lang="ko-KR" altLang="en-US"/>
              <a:t>우측정렬</a:t>
            </a:r>
          </a:p>
        </p:txBody>
      </p:sp>
    </p:spTree>
    <p:extLst>
      <p:ext uri="{BB962C8B-B14F-4D97-AF65-F5344CB8AC3E}">
        <p14:creationId xmlns:p14="http://schemas.microsoft.com/office/powerpoint/2010/main" val="31258824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26113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96339"/>
            <a:ext cx="10985771" cy="4498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581152"/>
            <a:ext cx="10974531" cy="4595813"/>
          </a:xfrm>
          <a:prstGeom prst="rect">
            <a:avLst/>
          </a:prstGeom>
        </p:spPr>
        <p:txBody>
          <a:bodyPr/>
          <a:lstStyle>
            <a:lvl1pPr>
              <a:lnSpc>
                <a:spcPct val="95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1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1068919"/>
            <a:ext cx="10974531" cy="25795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1600" kern="120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949905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Bleed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034256"/>
            <a:ext cx="12192000" cy="4823744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</p:spPr>
        <p:txBody>
          <a:bodyPr vert="horz" lIns="182880" tIns="91440" rIns="182880" bIns="45720" rtlCol="0" anchor="t">
            <a:noAutofit/>
          </a:bodyPr>
          <a:lstStyle>
            <a:lvl1pPr algn="ctr">
              <a:defRPr lang="en-US" sz="2667" dirty="0" smtClean="0">
                <a:solidFill>
                  <a:srgbClr val="C01818"/>
                </a:solidFill>
              </a:defRPr>
            </a:lvl1pPr>
          </a:lstStyle>
          <a:p>
            <a:r>
              <a:rPr lang="en-US"/>
              <a:t>Drag picture to placeholder or click icon to add. You must use a full bleed image to fill this entire space.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09601" y="496338"/>
            <a:ext cx="10974531" cy="4498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061307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14401" y="194450"/>
            <a:ext cx="10376653" cy="9144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buSzTx/>
              <a:buNone/>
              <a:defRPr sz="3600"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</a:lstStyle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41017701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680">
          <p15:clr>
            <a:srgbClr val="FBAE40"/>
          </p15:clr>
        </p15:guide>
        <p15:guide id="2" pos="1152">
          <p15:clr>
            <a:srgbClr val="FBAE40"/>
          </p15:clr>
        </p15:guide>
        <p15:guide id="3" pos="1420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Line"/>
          <p:cNvSpPr/>
          <p:nvPr/>
        </p:nvSpPr>
        <p:spPr>
          <a:xfrm>
            <a:off x="533400" y="8255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marL="0" indent="0" defTabSz="228600">
              <a:buSzTx/>
              <a:buFontTx/>
              <a:buNone/>
              <a:defRPr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sz="600"/>
          </a:p>
        </p:txBody>
      </p:sp>
      <p:sp>
        <p:nvSpPr>
          <p:cNvPr id="2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4" name="Bullet"/>
          <p:cNvSpPr txBox="1">
            <a:spLocks noGrp="1"/>
          </p:cNvSpPr>
          <p:nvPr>
            <p:ph type="body" idx="22"/>
          </p:nvPr>
        </p:nvSpPr>
        <p:spPr>
          <a:xfrm>
            <a:off x="533400" y="1163986"/>
            <a:ext cx="11118850" cy="5084414"/>
          </a:xfrm>
          <a:prstGeom prst="rect">
            <a:avLst/>
          </a:prstGeom>
        </p:spPr>
        <p:txBody>
          <a:bodyPr/>
          <a:lstStyle/>
          <a:p>
            <a:r>
              <a:t>Bullet</a:t>
            </a:r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McAfee Confidential">
            <a:extLst>
              <a:ext uri="{FF2B5EF4-FFF2-40B4-BE49-F238E27FC236}">
                <a16:creationId xmlns:a16="http://schemas.microsoft.com/office/drawing/2014/main" id="{64D7D5C7-634B-CF4F-BF15-FBBB4FF7898B}"/>
              </a:ext>
            </a:extLst>
          </p:cNvPr>
          <p:cNvSpPr/>
          <p:nvPr/>
        </p:nvSpPr>
        <p:spPr>
          <a:xfrm>
            <a:off x="7453509" y="6583621"/>
            <a:ext cx="420624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marL="0" indent="0" algn="r">
              <a:buSzTx/>
              <a:buFontTx/>
              <a:buNone/>
              <a:defRPr sz="1600">
                <a:solidFill>
                  <a:srgbClr val="D6D6D6"/>
                </a:solidFill>
              </a:defRPr>
            </a:lvl1pPr>
          </a:lstStyle>
          <a:p>
            <a:r>
              <a:rPr lang="en-US" sz="800">
                <a:solidFill>
                  <a:srgbClr val="D6D6D6"/>
                </a:solidFill>
              </a:rPr>
              <a:t>Copyright © 2021 </a:t>
            </a:r>
            <a:r>
              <a:rPr lang="en-US" sz="800" err="1">
                <a:solidFill>
                  <a:srgbClr val="D6D6D6"/>
                </a:solidFill>
              </a:rPr>
              <a:t>Skyhigh</a:t>
            </a:r>
            <a:r>
              <a:rPr lang="en-US" sz="800">
                <a:solidFill>
                  <a:srgbClr val="D6D6D6"/>
                </a:solidFill>
              </a:rPr>
              <a:t>, LLC.</a:t>
            </a:r>
          </a:p>
        </p:txBody>
      </p:sp>
    </p:spTree>
    <p:extLst>
      <p:ext uri="{BB962C8B-B14F-4D97-AF65-F5344CB8AC3E}">
        <p14:creationId xmlns:p14="http://schemas.microsoft.com/office/powerpoint/2010/main" val="176327186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EC82292-B5EC-7247-9ABA-96E252CD20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344" r="25618" b="19789"/>
          <a:stretch/>
        </p:blipFill>
        <p:spPr>
          <a:xfrm flipH="1">
            <a:off x="0" y="1"/>
            <a:ext cx="4926746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272029-F5CC-CD40-813F-5372A7EB14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7229" y="697346"/>
            <a:ext cx="2463847" cy="770572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FF5A2DE-4243-CC44-97E9-6AB108D71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4966" y="2682901"/>
            <a:ext cx="6025513" cy="20340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fontAlgn="b">
              <a:defRPr sz="28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 – 28pt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620DDF-B2D5-D24B-A4C6-2BB597D4E0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125" y="5000599"/>
            <a:ext cx="2556594" cy="1562261"/>
          </a:xfrm>
        </p:spPr>
        <p:txBody>
          <a:bodyPr lIns="0" anchor="b" anchorCtr="0">
            <a:normAutofit/>
          </a:bodyPr>
          <a:lstStyle>
            <a:lvl1pPr algn="l">
              <a:spcAft>
                <a:spcPts val="1000"/>
              </a:spcAft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74320" algn="l">
              <a:defRPr/>
            </a:lvl2pPr>
            <a:lvl3pPr algn="l">
              <a:defRPr/>
            </a:lvl3pPr>
            <a:lvl4pPr algn="l" hangingPunct="0">
              <a:defRPr/>
            </a:lvl4pPr>
          </a:lstStyle>
          <a:p>
            <a:pPr lvl="0"/>
            <a:r>
              <a:rPr lang="en-US"/>
              <a:t>Click to edit Master text styles -12pt</a:t>
            </a:r>
          </a:p>
        </p:txBody>
      </p:sp>
    </p:spTree>
    <p:extLst>
      <p:ext uri="{BB962C8B-B14F-4D97-AF65-F5344CB8AC3E}">
        <p14:creationId xmlns:p14="http://schemas.microsoft.com/office/powerpoint/2010/main" val="38884386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Break 2">
    <p:bg>
      <p:bgPr>
        <a:gradFill>
          <a:gsLst>
            <a:gs pos="38000">
              <a:schemeClr val="bg2"/>
            </a:gs>
            <a:gs pos="0">
              <a:srgbClr val="DA1C1C"/>
            </a:gs>
            <a:gs pos="100000">
              <a:schemeClr val="tx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605190" y="6493009"/>
            <a:ext cx="1096793" cy="206103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chemeClr val="bg2"/>
                </a:solidFill>
                <a:latin typeface="Intel Clear"/>
              </a:defRPr>
            </a:lvl1pPr>
          </a:lstStyle>
          <a:p>
            <a:r>
              <a:rPr lang="en-US"/>
              <a:t>4/21/2014</a:t>
            </a:r>
            <a:endParaRPr lang="en-US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>
          <a:xfrm>
            <a:off x="4130565" y="6493009"/>
            <a:ext cx="3920196" cy="206103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chemeClr val="bg2"/>
                </a:solidFill>
                <a:latin typeface="Intel Clear"/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10873" y="1710847"/>
            <a:ext cx="2103672" cy="3436307"/>
            <a:chOff x="458155" y="1281105"/>
            <a:chExt cx="1577754" cy="257723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8155" y="385833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458155" y="128110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609599" y="2291079"/>
            <a:ext cx="9510508" cy="1390364"/>
          </a:xfrm>
        </p:spPr>
        <p:txBody>
          <a:bodyPr anchor="b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 smtClean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3742140"/>
            <a:ext cx="5486401" cy="738235"/>
          </a:xfrm>
        </p:spPr>
        <p:txBody>
          <a:bodyPr anchor="t">
            <a:noAutofit/>
          </a:bodyPr>
          <a:lstStyle>
            <a:lvl1pPr marL="0" algn="l" defTabSz="12191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67" b="0" i="0" kern="1200" dirty="0" smtClean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6BB6FA4-7654-A703-0E98-1129965AB898}"/>
              </a:ext>
            </a:extLst>
          </p:cNvPr>
          <p:cNvGrpSpPr/>
          <p:nvPr userDrawn="1"/>
        </p:nvGrpSpPr>
        <p:grpSpPr>
          <a:xfrm>
            <a:off x="610873" y="1710847"/>
            <a:ext cx="2103672" cy="3436307"/>
            <a:chOff x="458155" y="1281105"/>
            <a:chExt cx="1577754" cy="2577230"/>
          </a:xfrm>
        </p:grpSpPr>
        <p:cxnSp>
          <p:nvCxnSpPr>
            <p:cNvPr id="3" name="Straight Connector 7">
              <a:extLst>
                <a:ext uri="{FF2B5EF4-FFF2-40B4-BE49-F238E27FC236}">
                  <a16:creationId xmlns:a16="http://schemas.microsoft.com/office/drawing/2014/main" id="{4106840D-153A-049B-8C03-1ABD7F893E47}"/>
                </a:ext>
              </a:extLst>
            </p:cNvPr>
            <p:cNvCxnSpPr/>
            <p:nvPr userDrawn="1"/>
          </p:nvCxnSpPr>
          <p:spPr>
            <a:xfrm>
              <a:off x="458155" y="385833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8">
              <a:extLst>
                <a:ext uri="{FF2B5EF4-FFF2-40B4-BE49-F238E27FC236}">
                  <a16:creationId xmlns:a16="http://schemas.microsoft.com/office/drawing/2014/main" id="{72C73753-0966-90FE-4B95-1E0EE03E4132}"/>
                </a:ext>
              </a:extLst>
            </p:cNvPr>
            <p:cNvCxnSpPr/>
            <p:nvPr userDrawn="1"/>
          </p:nvCxnSpPr>
          <p:spPr>
            <a:xfrm>
              <a:off x="458155" y="1281105"/>
              <a:ext cx="15777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304566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6317673"/>
            <a:ext cx="6802581" cy="179724"/>
          </a:xfrm>
        </p:spPr>
        <p:txBody>
          <a:bodyPr anchor="b"/>
          <a:lstStyle>
            <a:lvl1pPr marL="0" indent="0" algn="l" defTabSz="121911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306898" algn="l"/>
              </a:tabLst>
              <a:defRPr lang="en-US" sz="933" b="0" i="0" kern="1200" baseline="0" dirty="0" smtClean="0">
                <a:solidFill>
                  <a:srgbClr val="53565A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5937C8-1C23-41B6-9DDE-BE0FDBE93F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03" y="6606162"/>
            <a:ext cx="966328" cy="25183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F44CC61-FF92-993D-3959-3BE90C8D0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03" y="6606162"/>
            <a:ext cx="966328" cy="25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8404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66F685-7AB3-E6AE-A633-AD8AEED5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264CF1-5377-5FCD-31FA-A33ED7EC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AF28F8-4171-02F6-E8AA-B809D9060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B5776-B271-4B8F-AED9-44A8B4609EFE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3E9D6-C528-7198-C081-0D3812B57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4C65A-2F00-7D62-B476-6D99DFF92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17936-1E16-4974-B43E-C77710F0D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79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26"/>
          <p:cNvSpPr>
            <a:spLocks noChangeArrowheads="1"/>
          </p:cNvSpPr>
          <p:nvPr/>
        </p:nvSpPr>
        <p:spPr bwMode="black">
          <a:xfrm>
            <a:off x="11759045" y="6579503"/>
            <a:ext cx="289725" cy="278605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marL="0" marR="0" lvl="0" indent="0" algn="l" defTabSz="1219119" rtl="0" eaLnBrk="1" fontAlgn="auto" latinLnBrk="0" hangingPunct="1">
              <a:lnSpc>
                <a:spcPts val="1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C0E3-FCB2-4D10-9980-6DFC0D8FABCB}" type="slidenum"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pPr marL="0" marR="0" lvl="0" indent="0" algn="l" defTabSz="1219119" rtl="0" eaLnBrk="1" fontAlgn="auto" latinLnBrk="0" hangingPunct="1">
                <a:lnSpc>
                  <a:spcPts val="13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86178"/>
            <a:ext cx="10968475" cy="45997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6570375"/>
            <a:ext cx="12192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11584132" y="6657559"/>
            <a:ext cx="0" cy="12292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609601" y="1581152"/>
            <a:ext cx="10974531" cy="45952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756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</p:sldLayoutIdLst>
  <p:transition>
    <p:fade/>
  </p:transition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67" b="0" i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1pPr>
    </p:titleStyle>
    <p:bodyStyle>
      <a:lvl1pPr marL="0" indent="0" algn="l" defTabSz="914377" rtl="0" eaLnBrk="1" latinLnBrk="0" hangingPunct="1">
        <a:lnSpc>
          <a:spcPct val="95000"/>
        </a:lnSpc>
        <a:spcBef>
          <a:spcPts val="1000"/>
        </a:spcBef>
        <a:buFont typeface="Wingdings" panose="05000000000000000000" pitchFamily="2" charset="2"/>
        <a:buNone/>
        <a:defRPr sz="1867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1pPr>
      <a:lvl2pPr marL="228594" indent="-228594" algn="l" defTabSz="914377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2pPr>
      <a:lvl3pPr marL="609585" indent="-228594" algn="l" defTabSz="914377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3pPr>
      <a:lvl4pPr marL="990575" indent="-228594" algn="l" defTabSz="914377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4pPr>
      <a:lvl5pPr marL="1371566" indent="-228594" algn="l" defTabSz="914377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">
          <p15:clr>
            <a:srgbClr val="F26B43"/>
          </p15:clr>
        </p15:guide>
        <p15:guide id="3" pos="2880">
          <p15:clr>
            <a:srgbClr val="F26B43"/>
          </p15:clr>
        </p15:guide>
        <p15:guide id="4" pos="5472">
          <p15:clr>
            <a:srgbClr val="F26B43"/>
          </p15:clr>
        </p15:guide>
        <p15:guide id="5" orient="horz" pos="300">
          <p15:clr>
            <a:srgbClr val="F26B43"/>
          </p15:clr>
        </p15:guide>
        <p15:guide id="6" orient="horz" pos="7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bg2"/>
            </a:gs>
            <a:gs pos="0">
              <a:srgbClr val="DA1C1C"/>
            </a:gs>
            <a:gs pos="100000">
              <a:schemeClr val="tx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686AB9-F0F1-41B8-A9A0-5FAB12C5B4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9" y="2648130"/>
            <a:ext cx="11205412" cy="1390364"/>
          </a:xfrm>
        </p:spPr>
        <p:txBody>
          <a:bodyPr/>
          <a:lstStyle/>
          <a:p>
            <a:r>
              <a:rPr lang="en-US" altLang="ko-KR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</a:t>
            </a:r>
          </a:p>
          <a:p>
            <a:r>
              <a:rPr lang="en-US" altLang="ko-KR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web isolation using RBI (Remote Browser Isolation)</a:t>
            </a:r>
            <a:endParaRPr lang="en-US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53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783F5D-9E40-4F69-B4D0-91BB0953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Zero Trust ? </a:t>
            </a:r>
            <a:r>
              <a:rPr lang="en-US" altLang="ko-KR" dirty="0"/>
              <a:t>Availability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6036E85-DCDC-4289-A591-5810D61A28C5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96E13-614B-4663-9F56-BA806F760083}"/>
              </a:ext>
            </a:extLst>
          </p:cNvPr>
          <p:cNvSpPr txBox="1"/>
          <p:nvPr/>
        </p:nvSpPr>
        <p:spPr>
          <a:xfrm>
            <a:off x="607883" y="1678985"/>
            <a:ext cx="817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ko-KR" altLang="ko-KR" b="1" dirty="0" err="1"/>
              <a:t>What</a:t>
            </a:r>
            <a:r>
              <a:rPr lang="ko-KR" altLang="ko-KR" b="1" dirty="0"/>
              <a:t> </a:t>
            </a:r>
            <a:r>
              <a:rPr lang="ko-KR" altLang="ko-KR" b="1" dirty="0" err="1"/>
              <a:t>if</a:t>
            </a:r>
            <a:r>
              <a:rPr lang="ko-KR" altLang="ko-KR" b="1" dirty="0"/>
              <a:t> </a:t>
            </a:r>
            <a:r>
              <a:rPr lang="ko-KR" altLang="ko-KR" b="1" dirty="0" err="1"/>
              <a:t>an</a:t>
            </a:r>
            <a:r>
              <a:rPr lang="ko-KR" altLang="ko-KR" b="1" dirty="0"/>
              <a:t> </a:t>
            </a:r>
            <a:r>
              <a:rPr lang="ko-KR" altLang="ko-KR" b="1" dirty="0" err="1"/>
              <a:t>allowed</a:t>
            </a:r>
            <a:r>
              <a:rPr lang="ko-KR" altLang="ko-KR" b="1" dirty="0"/>
              <a:t> </a:t>
            </a:r>
            <a:r>
              <a:rPr lang="ko-KR" altLang="ko-KR" b="1" dirty="0" err="1"/>
              <a:t>site</a:t>
            </a:r>
            <a:r>
              <a:rPr lang="ko-KR" altLang="ko-KR" b="1" dirty="0"/>
              <a:t> </a:t>
            </a:r>
            <a:r>
              <a:rPr lang="ko-KR" altLang="ko-KR" b="1" dirty="0" err="1"/>
              <a:t>is</a:t>
            </a:r>
            <a:r>
              <a:rPr lang="ko-KR" altLang="ko-KR" b="1" dirty="0"/>
              <a:t> </a:t>
            </a:r>
            <a:r>
              <a:rPr lang="ko-KR" altLang="ko-KR" b="1" dirty="0" err="1"/>
              <a:t>actually</a:t>
            </a:r>
            <a:r>
              <a:rPr lang="ko-KR" altLang="ko-KR" b="1" dirty="0"/>
              <a:t> </a:t>
            </a:r>
            <a:r>
              <a:rPr lang="ko-KR" altLang="ko-KR" b="1" dirty="0" err="1"/>
              <a:t>infected</a:t>
            </a:r>
            <a:r>
              <a:rPr lang="ko-KR" altLang="ko-KR" b="1" dirty="0"/>
              <a:t> </a:t>
            </a:r>
            <a:r>
              <a:rPr lang="ko-KR" altLang="ko-KR" b="1" dirty="0" err="1"/>
              <a:t>with</a:t>
            </a:r>
            <a:r>
              <a:rPr lang="ko-KR" altLang="ko-KR" b="1" dirty="0"/>
              <a:t> </a:t>
            </a:r>
            <a:r>
              <a:rPr lang="ko-KR" altLang="ko-KR" b="1" dirty="0" err="1"/>
              <a:t>undetected</a:t>
            </a:r>
            <a:r>
              <a:rPr lang="ko-KR" altLang="ko-KR" b="1" dirty="0"/>
              <a:t> </a:t>
            </a:r>
            <a:r>
              <a:rPr lang="ko-KR" altLang="ko-KR" b="1" dirty="0" err="1"/>
              <a:t>malware</a:t>
            </a:r>
            <a:r>
              <a:rPr lang="ko-KR" altLang="ko-KR" b="1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0A9C3D-F518-488B-9CE5-3B902890B25E}"/>
              </a:ext>
            </a:extLst>
          </p:cNvPr>
          <p:cNvSpPr txBox="1"/>
          <p:nvPr/>
        </p:nvSpPr>
        <p:spPr>
          <a:xfrm>
            <a:off x="607883" y="2445998"/>
            <a:ext cx="9031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Is there a way to safely view web pages users access without blocking them?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1D17E-C752-48BA-AE35-BF03282F3B1B}"/>
              </a:ext>
            </a:extLst>
          </p:cNvPr>
          <p:cNvSpPr txBox="1"/>
          <p:nvPr/>
        </p:nvSpPr>
        <p:spPr>
          <a:xfrm>
            <a:off x="607883" y="4747038"/>
            <a:ext cx="775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Can we simplify the complex exception policies for blocked sites?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2A09D-470C-48DF-8D53-3526CC12FAD9}"/>
              </a:ext>
            </a:extLst>
          </p:cNvPr>
          <p:cNvSpPr txBox="1"/>
          <p:nvPr/>
        </p:nvSpPr>
        <p:spPr>
          <a:xfrm>
            <a:off x="607883" y="3213011"/>
            <a:ext cx="965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At the very least, is there a secure way to access sites in the “Unknown” category?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87AFC-99A8-4BF6-AB44-33E4EF300A88}"/>
              </a:ext>
            </a:extLst>
          </p:cNvPr>
          <p:cNvSpPr txBox="1"/>
          <p:nvPr/>
        </p:nvSpPr>
        <p:spPr>
          <a:xfrm>
            <a:off x="607884" y="3980025"/>
            <a:ext cx="971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Is there a way to preview vulnerable web applications offered as SaaS by websites?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8E4718-0F3E-4BFE-96D9-39F66386321C}"/>
              </a:ext>
            </a:extLst>
          </p:cNvPr>
          <p:cNvSpPr txBox="1"/>
          <p:nvPr/>
        </p:nvSpPr>
        <p:spPr>
          <a:xfrm>
            <a:off x="607883" y="5514051"/>
            <a:ext cx="9165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Can we apply DLP (Data Loss Prevention) functions while using web isolation?</a:t>
            </a:r>
          </a:p>
        </p:txBody>
      </p:sp>
    </p:spTree>
    <p:extLst>
      <p:ext uri="{BB962C8B-B14F-4D97-AF65-F5344CB8AC3E}">
        <p14:creationId xmlns:p14="http://schemas.microsoft.com/office/powerpoint/2010/main" val="20166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783F5D-9E40-4F69-B4D0-91BB0953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515600" cy="613930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/>
              <a:t>Application of Web Isolation Technology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pic>
        <p:nvPicPr>
          <p:cNvPr id="2052" name="Picture 4" descr="Remote Browser Services">
            <a:extLst>
              <a:ext uri="{FF2B5EF4-FFF2-40B4-BE49-F238E27FC236}">
                <a16:creationId xmlns:a16="http://schemas.microsoft.com/office/drawing/2014/main" id="{2EF82DE1-7B86-440A-9738-F204E20D2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60100" y="1866883"/>
            <a:ext cx="8238563" cy="419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2EF7EB-11F0-41C8-8D5D-0612D627D35E}"/>
              </a:ext>
            </a:extLst>
          </p:cNvPr>
          <p:cNvSpPr txBox="1">
            <a:spLocks/>
          </p:cNvSpPr>
          <p:nvPr/>
        </p:nvSpPr>
        <p:spPr>
          <a:xfrm>
            <a:off x="609600" y="1068918"/>
            <a:ext cx="10974531" cy="2579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kern="120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00639" hangingPunct="0">
              <a:lnSpc>
                <a:spcPct val="10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Open Sans Semibold"/>
              </a:rPr>
              <a:t>※ </a:t>
            </a:r>
            <a:r>
              <a:rPr lang="en-US" altLang="ko-KR" sz="1600" dirty="0"/>
              <a:t>Web Isolation Architecture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  <a:sym typeface="Open Sans Semibold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5687C6E-7F43-5CF5-0168-D4A70E55B1BA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626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pic>
        <p:nvPicPr>
          <p:cNvPr id="2050" name="Picture 2" descr="Remote Browser Isolation">
            <a:extLst>
              <a:ext uri="{FF2B5EF4-FFF2-40B4-BE49-F238E27FC236}">
                <a16:creationId xmlns:a16="http://schemas.microsoft.com/office/drawing/2014/main" id="{9D8B0248-70DE-46C8-8402-6C2552D60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6171" y="1443732"/>
            <a:ext cx="5282613" cy="231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87DA59D-ADBE-45C4-AB1D-BD0EF959E5A6}"/>
              </a:ext>
            </a:extLst>
          </p:cNvPr>
          <p:cNvSpPr txBox="1">
            <a:spLocks/>
          </p:cNvSpPr>
          <p:nvPr/>
        </p:nvSpPr>
        <p:spPr>
          <a:xfrm>
            <a:off x="609600" y="1068918"/>
            <a:ext cx="10974531" cy="2579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kern="120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00639" hangingPunct="0">
              <a:lnSpc>
                <a:spcPct val="10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Open Sans Semibold"/>
              </a:rPr>
              <a:t>※ </a:t>
            </a:r>
            <a:r>
              <a:rPr lang="en-US" altLang="ko-KR" sz="1600" dirty="0"/>
              <a:t>Integration of SWG with Web Isolation Technology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  <a:sym typeface="Open Sans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34902-62D8-489A-B01B-5B03F216EFCA}"/>
              </a:ext>
            </a:extLst>
          </p:cNvPr>
          <p:cNvSpPr txBox="1"/>
          <p:nvPr/>
        </p:nvSpPr>
        <p:spPr>
          <a:xfrm>
            <a:off x="6561719" y="3977736"/>
            <a:ext cx="5115700" cy="266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200" b="1" dirty="0"/>
              <a:t>Applying Web Isolation Action in SWG Policy for Specific Categories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blacklisted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read-only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.)</a:t>
            </a: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DLP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simultaneously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 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594" indent="-228594">
              <a:lnSpc>
                <a:spcPct val="105000"/>
              </a:lnSpc>
              <a:buFont typeface="Wingdings" panose="05000000000000000000" pitchFamily="2" charset="2"/>
              <a:buChar char="v"/>
            </a:pPr>
            <a:r>
              <a:rPr lang="en-US" altLang="ko-KR" sz="1200" b="1" dirty="0"/>
              <a:t>Applying Web Isolation Action for Unknown Category Sites</a:t>
            </a:r>
            <a:endParaRPr lang="en-US" altLang="ko-KR" sz="1200" dirty="0"/>
          </a:p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100" dirty="0"/>
              <a:t>Ensure availability by applying web isolation to suspicious sites</a:t>
            </a:r>
            <a:b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594" indent="-228594">
              <a:lnSpc>
                <a:spcPct val="105000"/>
              </a:lnSpc>
              <a:buFont typeface="Wingdings" panose="05000000000000000000" pitchFamily="2" charset="2"/>
              <a:buChar char="v"/>
            </a:pPr>
            <a:r>
              <a:rPr lang="en-US" altLang="ko-KR" sz="1200" b="1" dirty="0"/>
              <a:t>Detailed Control over File Downloads in Isolated Browser</a:t>
            </a:r>
            <a:endParaRPr lang="en-US" altLang="ko-KR" sz="1200" dirty="0"/>
          </a:p>
          <a:p>
            <a:pPr>
              <a:lnSpc>
                <a:spcPct val="105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Granular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downloadable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en-US" altLang="ko-KR" sz="1100" dirty="0"/>
              <a:t>Scan all allowed downloads in advance to eliminate threats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E3B245-2D19-6959-8CD8-B6724B357F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794" y="946150"/>
            <a:ext cx="5085256" cy="3429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0FCB0B-9953-8005-DB90-CEF1B9FEB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171" y="3774950"/>
            <a:ext cx="4911281" cy="27770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46BB9-7AE8-6247-9AC0-3C62EF377167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8232E9B9-424A-2D41-4836-69F69A21F93B}"/>
              </a:ext>
            </a:extLst>
          </p:cNvPr>
          <p:cNvSpPr txBox="1">
            <a:spLocks/>
          </p:cNvSpPr>
          <p:nvPr/>
        </p:nvSpPr>
        <p:spPr>
          <a:xfrm>
            <a:off x="609600" y="365126"/>
            <a:ext cx="10515600" cy="613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Application of Web Isolation Technology</a:t>
            </a:r>
            <a:endParaRPr lang="ko-KR" altLang="en-US" sz="4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266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5CBD0-DCD9-4E1F-9763-0890BE5A8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20" y="1077384"/>
            <a:ext cx="10373361" cy="5379861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EF6F469-A699-DDA2-7BD7-576C89D2AB07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66E63E40-32E0-441E-DD3C-E6CBCBFE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fr-FR" altLang="ko-KR" sz="2400" b="1" dirty="0"/>
              <a:t>Web Isolation Solution Implementation Screen (User Experience)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405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783F5D-9E40-4F69-B4D0-91BB0953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fr-FR" altLang="ko-KR" sz="2400" b="1" dirty="0"/>
              <a:t>Web Isolation Solution Implementation Screen (Webpage Source Code Comparison)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EF8E93-9F6F-41D0-BB7A-9DC61761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8" y="1077385"/>
            <a:ext cx="10338505" cy="54010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97E949-D030-4B97-B434-AAAF7056B15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1" y="1077384"/>
            <a:ext cx="5169252" cy="470323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D03E790-6A90-EE6E-DB2F-E82462593B9F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42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783F5D-9E40-4F69-B4D0-91BB0953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6024"/>
          </a:xfrm>
        </p:spPr>
        <p:txBody>
          <a:bodyPr anchor="t">
            <a:noAutofit/>
          </a:bodyPr>
          <a:lstStyle/>
          <a:p>
            <a:r>
              <a:rPr lang="en-US" altLang="ko-KR" sz="2400" b="1" dirty="0"/>
              <a:t>SWG + SSE (RBI) Function Integration Reference Architecture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7CCEAC-0B6A-4D6C-A2A6-B5437B6F4A7A}"/>
              </a:ext>
            </a:extLst>
          </p:cNvPr>
          <p:cNvSpPr/>
          <p:nvPr/>
        </p:nvSpPr>
        <p:spPr>
          <a:xfrm>
            <a:off x="0" y="0"/>
            <a:ext cx="12192000" cy="261699"/>
          </a:xfrm>
          <a:prstGeom prst="rect">
            <a:avLst/>
          </a:prstGeom>
          <a:solidFill>
            <a:srgbClr val="C0181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A577D67-D988-44BC-90E5-2CAA32CDE1DE}"/>
              </a:ext>
            </a:extLst>
          </p:cNvPr>
          <p:cNvSpPr txBox="1">
            <a:spLocks/>
          </p:cNvSpPr>
          <p:nvPr/>
        </p:nvSpPr>
        <p:spPr>
          <a:xfrm>
            <a:off x="609600" y="1068918"/>
            <a:ext cx="10974531" cy="2579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kern="120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00639" hangingPunct="0">
              <a:lnSpc>
                <a:spcPct val="100000"/>
              </a:lnSpc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sym typeface="Open Sans Semibold"/>
              </a:rPr>
              <a:t>※ </a:t>
            </a:r>
            <a:r>
              <a:rPr lang="en-US" altLang="ko-KR" sz="1600" b="1" dirty="0"/>
              <a:t>Customer References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  <a:sym typeface="Open Sans Semibold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5B15527-9708-4074-9BAB-A60031A5F9BE}"/>
              </a:ext>
            </a:extLst>
          </p:cNvPr>
          <p:cNvSpPr txBox="1"/>
          <p:nvPr/>
        </p:nvSpPr>
        <p:spPr>
          <a:xfrm>
            <a:off x="6462377" y="1506325"/>
            <a:ext cx="560955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/>
              <a:t>Expected Effects on Performance and Cost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- Provides performance and cost advantages compared to traditional web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security methods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- Saves resources of internal security devices (utilizes cloud resources)</a:t>
            </a:r>
          </a:p>
          <a:p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/>
              <a:t>Protects users from potential malware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- Prevents ransomware infection by not executing code on user PCs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- Blocks infection even when accessing malicious sites (Zero Trust)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- Delivers sanitized pages when accessing sites through web isolation</a:t>
            </a:r>
          </a:p>
          <a:p>
            <a:endParaRPr lang="en-US" altLang="ko-KR" sz="1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Reduces operational resource burden due to exception requests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- Eliminates the need for frequent operational handling of block exception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requests (Allows access to blocked sites via web isolation)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- Provides document file preview in the web browser for files to be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downloaded from websites</a:t>
            </a:r>
          </a:p>
          <a:p>
            <a:endParaRPr lang="en-US" altLang="ko-KR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Provides simultaneous application of web security and availability of users' access to websites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1BD28BD-FD0E-4E06-90FA-6AB0D479E46C}"/>
              </a:ext>
            </a:extLst>
          </p:cNvPr>
          <p:cNvSpPr txBox="1"/>
          <p:nvPr/>
        </p:nvSpPr>
        <p:spPr>
          <a:xfrm>
            <a:off x="6660169" y="1001024"/>
            <a:ext cx="5302159" cy="5601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00" b="1" dirty="0"/>
              <a:t>Expected Effects of SWG + Web Isolation Function Integration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8" name="그림 237">
            <a:extLst>
              <a:ext uri="{FF2B5EF4-FFF2-40B4-BE49-F238E27FC236}">
                <a16:creationId xmlns:a16="http://schemas.microsoft.com/office/drawing/2014/main" id="{68DC436F-5E33-439D-9D7C-DBCAFEEAB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456" y="802533"/>
            <a:ext cx="744284" cy="744284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6C3844B1-6DA8-4E01-8113-D01DE1B607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5653" y="870746"/>
            <a:ext cx="570421" cy="570421"/>
          </a:xfrm>
          <a:prstGeom prst="rect">
            <a:avLst/>
          </a:prstGeom>
        </p:spPr>
      </p:pic>
      <p:sp>
        <p:nvSpPr>
          <p:cNvPr id="10" name="구름 9">
            <a:extLst>
              <a:ext uri="{FF2B5EF4-FFF2-40B4-BE49-F238E27FC236}">
                <a16:creationId xmlns:a16="http://schemas.microsoft.com/office/drawing/2014/main" id="{A3C15CD5-41DD-4E27-B712-BBC4856FCE70}"/>
              </a:ext>
            </a:extLst>
          </p:cNvPr>
          <p:cNvSpPr/>
          <p:nvPr/>
        </p:nvSpPr>
        <p:spPr>
          <a:xfrm rot="10800000">
            <a:off x="2101728" y="1561177"/>
            <a:ext cx="2351643" cy="1840497"/>
          </a:xfrm>
          <a:prstGeom prst="cloud">
            <a:avLst/>
          </a:prstGeom>
          <a:solidFill>
            <a:srgbClr val="E6E7E8"/>
          </a:solidFill>
          <a:ln>
            <a:noFill/>
          </a:ln>
        </p:spPr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</a:pPr>
            <a:endParaRPr lang="ko-KR" altLang="en-US" sz="1600" dirty="0"/>
          </a:p>
        </p:txBody>
      </p:sp>
      <p:grpSp>
        <p:nvGrpSpPr>
          <p:cNvPr id="16" name="Group 49">
            <a:extLst>
              <a:ext uri="{FF2B5EF4-FFF2-40B4-BE49-F238E27FC236}">
                <a16:creationId xmlns:a16="http://schemas.microsoft.com/office/drawing/2014/main" id="{9F504781-6194-41E2-8723-36954997EBE9}"/>
              </a:ext>
            </a:extLst>
          </p:cNvPr>
          <p:cNvGrpSpPr/>
          <p:nvPr/>
        </p:nvGrpSpPr>
        <p:grpSpPr>
          <a:xfrm>
            <a:off x="3103361" y="1698634"/>
            <a:ext cx="1050123" cy="677316"/>
            <a:chOff x="5900473" y="2333053"/>
            <a:chExt cx="960357" cy="702023"/>
          </a:xfrm>
        </p:grpSpPr>
        <p:pic>
          <p:nvPicPr>
            <p:cNvPr id="17" name="Picture 50">
              <a:extLst>
                <a:ext uri="{FF2B5EF4-FFF2-40B4-BE49-F238E27FC236}">
                  <a16:creationId xmlns:a16="http://schemas.microsoft.com/office/drawing/2014/main" id="{A73F10A6-D20C-42C9-967C-1CD567B75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00473" y="2333053"/>
              <a:ext cx="960357" cy="702023"/>
            </a:xfrm>
            <a:prstGeom prst="rect">
              <a:avLst/>
            </a:prstGeom>
          </p:spPr>
        </p:pic>
        <p:pic>
          <p:nvPicPr>
            <p:cNvPr id="18" name="Picture 4" descr="https://www.xactlycorp.com/wp-content/uploads/2015/01/box-logo.png">
              <a:extLst>
                <a:ext uri="{FF2B5EF4-FFF2-40B4-BE49-F238E27FC236}">
                  <a16:creationId xmlns:a16="http://schemas.microsoft.com/office/drawing/2014/main" id="{7471B620-5193-4F08-92BF-DCE0D021C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390" y="2560326"/>
              <a:ext cx="448523" cy="24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9" name="Elbow Connector 35">
            <a:extLst>
              <a:ext uri="{FF2B5EF4-FFF2-40B4-BE49-F238E27FC236}">
                <a16:creationId xmlns:a16="http://schemas.microsoft.com/office/drawing/2014/main" id="{0D2128C3-4077-4BB3-B85B-948C2D5F21BE}"/>
              </a:ext>
            </a:extLst>
          </p:cNvPr>
          <p:cNvCxnSpPr>
            <a:cxnSpLocks/>
            <a:endCxn id="29" idx="1"/>
          </p:cNvCxnSpPr>
          <p:nvPr/>
        </p:nvCxnSpPr>
        <p:spPr>
          <a:xfrm rot="5400000" flipH="1" flipV="1">
            <a:off x="587803" y="3644623"/>
            <a:ext cx="2651259" cy="389307"/>
          </a:xfrm>
          <a:prstGeom prst="bentConnector2">
            <a:avLst/>
          </a:prstGeom>
          <a:noFill/>
          <a:ln w="12700" cap="flat" cmpd="sng" algn="ctr">
            <a:solidFill>
              <a:srgbClr val="939598"/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20" name="Elbow Connector 40">
            <a:extLst>
              <a:ext uri="{FF2B5EF4-FFF2-40B4-BE49-F238E27FC236}">
                <a16:creationId xmlns:a16="http://schemas.microsoft.com/office/drawing/2014/main" id="{A01A27FE-A810-4881-9101-782DFC8201C3}"/>
              </a:ext>
            </a:extLst>
          </p:cNvPr>
          <p:cNvCxnSpPr>
            <a:cxnSpLocks/>
            <a:stCxn id="22" idx="1"/>
            <a:endCxn id="46" idx="3"/>
          </p:cNvCxnSpPr>
          <p:nvPr/>
        </p:nvCxnSpPr>
        <p:spPr>
          <a:xfrm rot="10800000">
            <a:off x="1920775" y="4663379"/>
            <a:ext cx="2350531" cy="97844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8CC74F"/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21" name="Elbow Connector 49">
            <a:extLst>
              <a:ext uri="{FF2B5EF4-FFF2-40B4-BE49-F238E27FC236}">
                <a16:creationId xmlns:a16="http://schemas.microsoft.com/office/drawing/2014/main" id="{ECDF03DF-3241-4375-81D0-0E6359349223}"/>
              </a:ext>
            </a:extLst>
          </p:cNvPr>
          <p:cNvCxnSpPr>
            <a:cxnSpLocks/>
            <a:stCxn id="22" idx="0"/>
            <a:endCxn id="17" idx="3"/>
          </p:cNvCxnSpPr>
          <p:nvPr/>
        </p:nvCxnSpPr>
        <p:spPr>
          <a:xfrm rot="16200000" flipV="1">
            <a:off x="2778084" y="3412692"/>
            <a:ext cx="3212112" cy="461312"/>
          </a:xfrm>
          <a:prstGeom prst="bentConnector2">
            <a:avLst/>
          </a:prstGeom>
          <a:noFill/>
          <a:ln w="12700" cap="flat" cmpd="sng" algn="ctr">
            <a:solidFill>
              <a:srgbClr val="939598"/>
            </a:solidFill>
            <a:prstDash val="sysDot"/>
            <a:miter lim="800000"/>
            <a:headEnd type="triangle"/>
            <a:tailEnd type="triangle"/>
          </a:ln>
          <a:effectLst/>
        </p:spPr>
      </p:cxnSp>
      <p:pic>
        <p:nvPicPr>
          <p:cNvPr id="22" name="Picture 166">
            <a:extLst>
              <a:ext uri="{FF2B5EF4-FFF2-40B4-BE49-F238E27FC236}">
                <a16:creationId xmlns:a16="http://schemas.microsoft.com/office/drawing/2014/main" id="{41196009-765A-4D12-87E7-B78651E00B6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1306" y="5249404"/>
            <a:ext cx="686980" cy="784829"/>
          </a:xfrm>
          <a:prstGeom prst="rect">
            <a:avLst/>
          </a:prstGeom>
        </p:spPr>
      </p:pic>
      <p:pic>
        <p:nvPicPr>
          <p:cNvPr id="23" name="Picture 167">
            <a:extLst>
              <a:ext uri="{FF2B5EF4-FFF2-40B4-BE49-F238E27FC236}">
                <a16:creationId xmlns:a16="http://schemas.microsoft.com/office/drawing/2014/main" id="{F0898F9A-3315-4CF7-90AC-90E89BD867B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818" y="5767411"/>
            <a:ext cx="595095" cy="3899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E3D8D8-447F-4D6F-A6B0-6898BA2A3E91}"/>
              </a:ext>
            </a:extLst>
          </p:cNvPr>
          <p:cNvSpPr txBox="1"/>
          <p:nvPr/>
        </p:nvSpPr>
        <p:spPr>
          <a:xfrm>
            <a:off x="3630100" y="6133087"/>
            <a:ext cx="196939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defRPr/>
            </a:pPr>
            <a:r>
              <a:rPr lang="en-US" altLang="ko-KR" sz="1333" kern="0" dirty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Outside the Company</a:t>
            </a:r>
            <a:endParaRPr lang="en-US" sz="1333" kern="0" dirty="0">
              <a:solidFill>
                <a:srgbClr val="53565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Oval 59">
            <a:extLst>
              <a:ext uri="{FF2B5EF4-FFF2-40B4-BE49-F238E27FC236}">
                <a16:creationId xmlns:a16="http://schemas.microsoft.com/office/drawing/2014/main" id="{EC922B14-E38C-42FC-91B3-F84D0ACABEF0}"/>
              </a:ext>
            </a:extLst>
          </p:cNvPr>
          <p:cNvSpPr/>
          <p:nvPr/>
        </p:nvSpPr>
        <p:spPr>
          <a:xfrm>
            <a:off x="5179176" y="5759672"/>
            <a:ext cx="336221" cy="336221"/>
          </a:xfrm>
          <a:prstGeom prst="ellipse">
            <a:avLst/>
          </a:prstGeom>
          <a:solidFill>
            <a:srgbClr val="939598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sz="2400" kern="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B7549D-D1F1-4060-9804-777DA0A7F4BC}"/>
              </a:ext>
            </a:extLst>
          </p:cNvPr>
          <p:cNvSpPr txBox="1"/>
          <p:nvPr/>
        </p:nvSpPr>
        <p:spPr>
          <a:xfrm>
            <a:off x="5115956" y="5814388"/>
            <a:ext cx="4914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en-US" altLang="ko-KR" sz="800" b="1" kern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MCP</a:t>
            </a:r>
          </a:p>
        </p:txBody>
      </p:sp>
      <p:grpSp>
        <p:nvGrpSpPr>
          <p:cNvPr id="27" name="Group 98">
            <a:extLst>
              <a:ext uri="{FF2B5EF4-FFF2-40B4-BE49-F238E27FC236}">
                <a16:creationId xmlns:a16="http://schemas.microsoft.com/office/drawing/2014/main" id="{766D2893-E8D2-43C7-9754-9598153E9590}"/>
              </a:ext>
            </a:extLst>
          </p:cNvPr>
          <p:cNvGrpSpPr/>
          <p:nvPr/>
        </p:nvGrpSpPr>
        <p:grpSpPr>
          <a:xfrm>
            <a:off x="2108086" y="2134090"/>
            <a:ext cx="1146717" cy="677316"/>
            <a:chOff x="5202141" y="2854193"/>
            <a:chExt cx="1048694" cy="702023"/>
          </a:xfrm>
        </p:grpSpPr>
        <p:pic>
          <p:nvPicPr>
            <p:cNvPr id="28" name="Picture 99">
              <a:extLst>
                <a:ext uri="{FF2B5EF4-FFF2-40B4-BE49-F238E27FC236}">
                  <a16:creationId xmlns:a16="http://schemas.microsoft.com/office/drawing/2014/main" id="{D3CF483E-1F4F-4554-AD72-2DFEFEF93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46310" y="2854193"/>
              <a:ext cx="960357" cy="702023"/>
            </a:xfrm>
            <a:prstGeom prst="rect">
              <a:avLst/>
            </a:prstGeom>
          </p:spPr>
        </p:pic>
        <p:pic>
          <p:nvPicPr>
            <p:cNvPr id="29" name="Picture 6" descr="https://login.salesforce.com/img/logo190.png">
              <a:extLst>
                <a:ext uri="{FF2B5EF4-FFF2-40B4-BE49-F238E27FC236}">
                  <a16:creationId xmlns:a16="http://schemas.microsoft.com/office/drawing/2014/main" id="{AE766BB7-B521-48F0-8E7A-18C34B0EB8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2141" y="3029117"/>
              <a:ext cx="1048694" cy="436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2E296D8-8C55-48FD-9CA9-DA5AAAE12EA3}"/>
              </a:ext>
            </a:extLst>
          </p:cNvPr>
          <p:cNvSpPr txBox="1"/>
          <p:nvPr/>
        </p:nvSpPr>
        <p:spPr>
          <a:xfrm>
            <a:off x="954460" y="6133087"/>
            <a:ext cx="186092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defRPr/>
            </a:pPr>
            <a:r>
              <a:rPr lang="en-US" altLang="ko-KR" sz="1333" kern="0" dirty="0">
                <a:solidFill>
                  <a:srgbClr val="5356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Inside the Company</a:t>
            </a:r>
            <a:endParaRPr lang="en-US" sz="1333" kern="0" dirty="0">
              <a:solidFill>
                <a:srgbClr val="53565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7" name="Picture 3">
            <a:extLst>
              <a:ext uri="{FF2B5EF4-FFF2-40B4-BE49-F238E27FC236}">
                <a16:creationId xmlns:a16="http://schemas.microsoft.com/office/drawing/2014/main" id="{E894FD97-FC30-4F4D-B141-2479FF0D9A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577" y="5095124"/>
            <a:ext cx="930707" cy="864899"/>
          </a:xfrm>
          <a:prstGeom prst="rect">
            <a:avLst/>
          </a:prstGeom>
        </p:spPr>
      </p:pic>
      <p:pic>
        <p:nvPicPr>
          <p:cNvPr id="38" name="Picture 147">
            <a:extLst>
              <a:ext uri="{FF2B5EF4-FFF2-40B4-BE49-F238E27FC236}">
                <a16:creationId xmlns:a16="http://schemas.microsoft.com/office/drawing/2014/main" id="{4CDA86E5-1412-489B-BEAE-DC6EED97A9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8353" y="5250051"/>
            <a:ext cx="686980" cy="784829"/>
          </a:xfrm>
          <a:prstGeom prst="rect">
            <a:avLst/>
          </a:prstGeom>
        </p:spPr>
      </p:pic>
      <p:pic>
        <p:nvPicPr>
          <p:cNvPr id="39" name="Picture 148">
            <a:extLst>
              <a:ext uri="{FF2B5EF4-FFF2-40B4-BE49-F238E27FC236}">
                <a16:creationId xmlns:a16="http://schemas.microsoft.com/office/drawing/2014/main" id="{9F64EEDE-0A2F-49E5-AC56-D5B435880D7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6865" y="5768058"/>
            <a:ext cx="595095" cy="389951"/>
          </a:xfrm>
          <a:prstGeom prst="rect">
            <a:avLst/>
          </a:prstGeom>
        </p:spPr>
      </p:pic>
      <p:sp>
        <p:nvSpPr>
          <p:cNvPr id="40" name="Oval 129">
            <a:extLst>
              <a:ext uri="{FF2B5EF4-FFF2-40B4-BE49-F238E27FC236}">
                <a16:creationId xmlns:a16="http://schemas.microsoft.com/office/drawing/2014/main" id="{CA832FD9-1EAC-4F53-899A-EC8E7CE75FEC}"/>
              </a:ext>
            </a:extLst>
          </p:cNvPr>
          <p:cNvSpPr/>
          <p:nvPr/>
        </p:nvSpPr>
        <p:spPr>
          <a:xfrm>
            <a:off x="2482832" y="5780618"/>
            <a:ext cx="336221" cy="336221"/>
          </a:xfrm>
          <a:prstGeom prst="ellipse">
            <a:avLst/>
          </a:prstGeom>
          <a:solidFill>
            <a:srgbClr val="939598"/>
          </a:solidFill>
          <a:ln w="190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sz="2400" kern="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1CD06A-7226-4E41-B6F0-973C2CBB509C}"/>
              </a:ext>
            </a:extLst>
          </p:cNvPr>
          <p:cNvSpPr txBox="1"/>
          <p:nvPr/>
        </p:nvSpPr>
        <p:spPr>
          <a:xfrm>
            <a:off x="2419612" y="5835334"/>
            <a:ext cx="4914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en-US" sz="800" b="1" kern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MCP</a:t>
            </a:r>
          </a:p>
        </p:txBody>
      </p:sp>
      <p:grpSp>
        <p:nvGrpSpPr>
          <p:cNvPr id="42" name="Group 9">
            <a:extLst>
              <a:ext uri="{FF2B5EF4-FFF2-40B4-BE49-F238E27FC236}">
                <a16:creationId xmlns:a16="http://schemas.microsoft.com/office/drawing/2014/main" id="{3643BB57-56FC-4191-9B92-18B0D67D0DF9}"/>
              </a:ext>
            </a:extLst>
          </p:cNvPr>
          <p:cNvGrpSpPr>
            <a:grpSpLocks noChangeAspect="1"/>
          </p:cNvGrpSpPr>
          <p:nvPr/>
        </p:nvGrpSpPr>
        <p:grpSpPr>
          <a:xfrm>
            <a:off x="4006875" y="2876615"/>
            <a:ext cx="1039813" cy="643435"/>
            <a:chOff x="2601663" y="4031614"/>
            <a:chExt cx="1334262" cy="825639"/>
          </a:xfrm>
        </p:grpSpPr>
        <p:pic>
          <p:nvPicPr>
            <p:cNvPr id="43" name="Picture 151">
              <a:extLst>
                <a:ext uri="{FF2B5EF4-FFF2-40B4-BE49-F238E27FC236}">
                  <a16:creationId xmlns:a16="http://schemas.microsoft.com/office/drawing/2014/main" id="{A61AD5A6-324F-4BFB-89EC-2809981DB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1663" y="4031614"/>
              <a:ext cx="1334262" cy="794879"/>
            </a:xfrm>
            <a:prstGeom prst="rect">
              <a:avLst/>
            </a:prstGeom>
          </p:spPr>
        </p:pic>
        <p:pic>
          <p:nvPicPr>
            <p:cNvPr id="44" name="Picture 4">
              <a:extLst>
                <a:ext uri="{FF2B5EF4-FFF2-40B4-BE49-F238E27FC236}">
                  <a16:creationId xmlns:a16="http://schemas.microsoft.com/office/drawing/2014/main" id="{19FE674A-4836-406D-83FE-0295E1FFF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62607" y="4102471"/>
              <a:ext cx="681045" cy="604127"/>
            </a:xfrm>
            <a:prstGeom prst="rect">
              <a:avLst/>
            </a:prstGeom>
          </p:spPr>
        </p:pic>
        <p:pic>
          <p:nvPicPr>
            <p:cNvPr id="45" name="Picture 153">
              <a:extLst>
                <a:ext uri="{FF2B5EF4-FFF2-40B4-BE49-F238E27FC236}">
                  <a16:creationId xmlns:a16="http://schemas.microsoft.com/office/drawing/2014/main" id="{2CD6B972-C8DB-4630-9CCA-28BE5D850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5379" y="4404456"/>
              <a:ext cx="365360" cy="452797"/>
            </a:xfrm>
            <a:prstGeom prst="rect">
              <a:avLst/>
            </a:prstGeom>
          </p:spPr>
        </p:pic>
      </p:grpSp>
      <p:pic>
        <p:nvPicPr>
          <p:cNvPr id="46" name="Picture 10">
            <a:extLst>
              <a:ext uri="{FF2B5EF4-FFF2-40B4-BE49-F238E27FC236}">
                <a16:creationId xmlns:a16="http://schemas.microsoft.com/office/drawing/2014/main" id="{CE79B6D0-DE98-4F50-AE9C-B9DFBE89A88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998" y="4491990"/>
            <a:ext cx="342777" cy="342777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8A566AE3-400F-442E-B1D0-9487B834DC33}"/>
              </a:ext>
            </a:extLst>
          </p:cNvPr>
          <p:cNvGrpSpPr/>
          <p:nvPr/>
        </p:nvGrpSpPr>
        <p:grpSpPr>
          <a:xfrm>
            <a:off x="1403932" y="4133344"/>
            <a:ext cx="750193" cy="311277"/>
            <a:chOff x="7481058" y="8026135"/>
            <a:chExt cx="1778184" cy="766136"/>
          </a:xfrm>
        </p:grpSpPr>
        <p:pic>
          <p:nvPicPr>
            <p:cNvPr id="48" name="Picture 109">
              <a:extLst>
                <a:ext uri="{FF2B5EF4-FFF2-40B4-BE49-F238E27FC236}">
                  <a16:creationId xmlns:a16="http://schemas.microsoft.com/office/drawing/2014/main" id="{ABCAA1CC-10BC-4C2D-A89B-3696DD304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81058" y="8026135"/>
              <a:ext cx="1633961" cy="670403"/>
            </a:xfrm>
            <a:prstGeom prst="rect">
              <a:avLst/>
            </a:prstGeom>
          </p:spPr>
        </p:pic>
        <p:grpSp>
          <p:nvGrpSpPr>
            <p:cNvPr id="49" name="Group 110">
              <a:extLst>
                <a:ext uri="{FF2B5EF4-FFF2-40B4-BE49-F238E27FC236}">
                  <a16:creationId xmlns:a16="http://schemas.microsoft.com/office/drawing/2014/main" id="{81F1F801-0E34-4724-9145-5F167FE453EB}"/>
                </a:ext>
              </a:extLst>
            </p:cNvPr>
            <p:cNvGrpSpPr/>
            <p:nvPr/>
          </p:nvGrpSpPr>
          <p:grpSpPr>
            <a:xfrm>
              <a:off x="8935257" y="8416092"/>
              <a:ext cx="323985" cy="376179"/>
              <a:chOff x="5754211" y="1500973"/>
              <a:chExt cx="125217" cy="190611"/>
            </a:xfrm>
          </p:grpSpPr>
          <p:sp>
            <p:nvSpPr>
              <p:cNvPr id="50" name="Rectangle 111">
                <a:extLst>
                  <a:ext uri="{FF2B5EF4-FFF2-40B4-BE49-F238E27FC236}">
                    <a16:creationId xmlns:a16="http://schemas.microsoft.com/office/drawing/2014/main" id="{CEDEEDA7-50F9-4FA6-B52F-7F4E84AF319A}"/>
                  </a:ext>
                </a:extLst>
              </p:cNvPr>
              <p:cNvSpPr/>
              <p:nvPr/>
            </p:nvSpPr>
            <p:spPr>
              <a:xfrm>
                <a:off x="5763744" y="1556343"/>
                <a:ext cx="115684" cy="98247"/>
              </a:xfrm>
              <a:prstGeom prst="rect">
                <a:avLst/>
              </a:prstGeom>
              <a:solidFill>
                <a:srgbClr val="FEFFFF"/>
              </a:solidFill>
              <a:ln>
                <a:noFill/>
              </a:ln>
            </p:spPr>
            <p:txBody>
              <a:bodyPr vert="horz" wrap="square" lIns="162560" tIns="162560" rIns="162560" bIns="16256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1100639" hangingPunct="0">
                  <a:lnSpc>
                    <a:spcPct val="95000"/>
                  </a:lnSpc>
                  <a:defRPr/>
                </a:pPr>
                <a:endParaRPr lang="en-US" sz="800" kern="0">
                  <a:solidFill>
                    <a:srgbClr val="53565A"/>
                  </a:solidFill>
                  <a:latin typeface="+mn-ea"/>
                  <a:sym typeface="Open Sans Semibold"/>
                </a:endParaRPr>
              </a:p>
            </p:txBody>
          </p:sp>
          <p:pic>
            <p:nvPicPr>
              <p:cNvPr id="51" name="Picture 112">
                <a:extLst>
                  <a:ext uri="{FF2B5EF4-FFF2-40B4-BE49-F238E27FC236}">
                    <a16:creationId xmlns:a16="http://schemas.microsoft.com/office/drawing/2014/main" id="{07120647-CC18-4E69-B3C9-15CA3E6FA7BF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754211" y="1500973"/>
                <a:ext cx="122750" cy="190611"/>
              </a:xfrm>
              <a:prstGeom prst="rect">
                <a:avLst/>
              </a:prstGeom>
            </p:spPr>
          </p:pic>
        </p:grp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114BAD5-9F3C-4F65-B136-B86F9DF7455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01228" y="2876213"/>
            <a:ext cx="1018048" cy="623295"/>
          </a:xfrm>
          <a:prstGeom prst="rect">
            <a:avLst/>
          </a:prstGeom>
        </p:spPr>
      </p:pic>
      <p:cxnSp>
        <p:nvCxnSpPr>
          <p:cNvPr id="52" name="Elbow Connector 35">
            <a:extLst>
              <a:ext uri="{FF2B5EF4-FFF2-40B4-BE49-F238E27FC236}">
                <a16:creationId xmlns:a16="http://schemas.microsoft.com/office/drawing/2014/main" id="{E4643F3E-6416-493F-BB8E-5567F7A53779}"/>
              </a:ext>
            </a:extLst>
          </p:cNvPr>
          <p:cNvCxnSpPr>
            <a:cxnSpLocks/>
            <a:stCxn id="48" idx="3"/>
            <a:endCxn id="4" idx="2"/>
          </p:cNvCxnSpPr>
          <p:nvPr/>
        </p:nvCxnSpPr>
        <p:spPr>
          <a:xfrm flipV="1">
            <a:off x="2093279" y="3499507"/>
            <a:ext cx="616973" cy="770028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F0C4B5EA-2839-464E-9F45-C886F46AAB93}"/>
              </a:ext>
            </a:extLst>
          </p:cNvPr>
          <p:cNvCxnSpPr>
            <a:cxnSpLocks/>
          </p:cNvCxnSpPr>
          <p:nvPr/>
        </p:nvCxnSpPr>
        <p:spPr>
          <a:xfrm flipH="1">
            <a:off x="3037062" y="3439069"/>
            <a:ext cx="969813" cy="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headEnd type="none"/>
            <a:tailEnd type="triangle"/>
          </a:ln>
          <a:effectLst/>
        </p:spPr>
      </p:cxnSp>
      <p:grpSp>
        <p:nvGrpSpPr>
          <p:cNvPr id="13" name="Group 46">
            <a:extLst>
              <a:ext uri="{FF2B5EF4-FFF2-40B4-BE49-F238E27FC236}">
                <a16:creationId xmlns:a16="http://schemas.microsoft.com/office/drawing/2014/main" id="{C22F0C36-682A-4D6B-90FD-40588997DA55}"/>
              </a:ext>
            </a:extLst>
          </p:cNvPr>
          <p:cNvGrpSpPr/>
          <p:nvPr/>
        </p:nvGrpSpPr>
        <p:grpSpPr>
          <a:xfrm>
            <a:off x="3094464" y="2413345"/>
            <a:ext cx="1050123" cy="677316"/>
            <a:chOff x="5900473" y="3330853"/>
            <a:chExt cx="960357" cy="702023"/>
          </a:xfrm>
        </p:grpSpPr>
        <p:pic>
          <p:nvPicPr>
            <p:cNvPr id="14" name="Picture 47">
              <a:extLst>
                <a:ext uri="{FF2B5EF4-FFF2-40B4-BE49-F238E27FC236}">
                  <a16:creationId xmlns:a16="http://schemas.microsoft.com/office/drawing/2014/main" id="{B9A449C2-DE95-4947-A118-C606B247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00473" y="3330853"/>
              <a:ext cx="960357" cy="702023"/>
            </a:xfrm>
            <a:prstGeom prst="rect">
              <a:avLst/>
            </a:prstGeom>
          </p:spPr>
        </p:pic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86D8D3F0-B522-4C8C-9417-16319F6058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6029906" y="3587899"/>
              <a:ext cx="701490" cy="237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E8A21E18-547F-45FC-A906-4D1C1AB8078A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9440" y="2885332"/>
            <a:ext cx="141117" cy="14076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F070112D-E518-4E4E-A792-1F583F4C37D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2632" y="3141304"/>
            <a:ext cx="141117" cy="140765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06827FB7-1B5C-4418-880A-94D853E3FB7C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5984" y="1940418"/>
            <a:ext cx="141117" cy="140765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62FECF3B-F38C-4343-B8B5-7F086F2E662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4472" y="2486866"/>
            <a:ext cx="141117" cy="14076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51D9ABBC-908A-45A8-A955-C1ED4653A726}"/>
              </a:ext>
            </a:extLst>
          </p:cNvPr>
          <p:cNvSpPr txBox="1"/>
          <p:nvPr/>
        </p:nvSpPr>
        <p:spPr>
          <a:xfrm>
            <a:off x="768359" y="4126586"/>
            <a:ext cx="577402" cy="287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ko-KR" sz="1333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SWG</a:t>
            </a:r>
            <a:endParaRPr lang="ko-KR" altLang="en-US" sz="1333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038580-75A5-4C41-A0FC-EAB18C2C666A}"/>
              </a:ext>
            </a:extLst>
          </p:cNvPr>
          <p:cNvSpPr txBox="1"/>
          <p:nvPr/>
        </p:nvSpPr>
        <p:spPr>
          <a:xfrm>
            <a:off x="4636129" y="3468605"/>
            <a:ext cx="864339" cy="287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ko-KR" sz="1333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SSE(RBI)</a:t>
            </a:r>
            <a:endParaRPr lang="ko-KR" altLang="en-US" sz="1333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555F0B-FF57-4CBF-909A-4F9CFF73339D}"/>
              </a:ext>
            </a:extLst>
          </p:cNvPr>
          <p:cNvSpPr txBox="1"/>
          <p:nvPr/>
        </p:nvSpPr>
        <p:spPr>
          <a:xfrm>
            <a:off x="2763785" y="3506347"/>
            <a:ext cx="458780" cy="287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ko-KR" sz="1333" b="1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RBI</a:t>
            </a:r>
            <a:endParaRPr lang="ko-KR" altLang="en-US" sz="1333" b="1" dirty="0"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81A359-ACCA-9B0D-1A82-12F5CAC0A06F}"/>
              </a:ext>
            </a:extLst>
          </p:cNvPr>
          <p:cNvSpPr txBox="1">
            <a:spLocks/>
          </p:cNvSpPr>
          <p:nvPr/>
        </p:nvSpPr>
        <p:spPr>
          <a:xfrm>
            <a:off x="5957456" y="8708"/>
            <a:ext cx="6225842" cy="25299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71450" indent="-171450" algn="l" defTabSz="6858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4295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8700" indent="-171450" algn="l" defTabSz="6858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67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Enhancing user web availability through Remote Browser Isolation (RBI)</a:t>
            </a:r>
            <a:endParaRPr lang="ko-KR" altLang="en-US" sz="1067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487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Office Theme">
  <a:themeElements>
    <a:clrScheme name="McAfee">
      <a:dk1>
        <a:srgbClr val="53565A"/>
      </a:dk1>
      <a:lt1>
        <a:srgbClr val="FFFFFF"/>
      </a:lt1>
      <a:dk2>
        <a:srgbClr val="75160D"/>
      </a:dk2>
      <a:lt2>
        <a:srgbClr val="C01818"/>
      </a:lt2>
      <a:accent1>
        <a:srgbClr val="C01818"/>
      </a:accent1>
      <a:accent2>
        <a:srgbClr val="939598"/>
      </a:accent2>
      <a:accent3>
        <a:srgbClr val="005FAE"/>
      </a:accent3>
      <a:accent4>
        <a:srgbClr val="73439A"/>
      </a:accent4>
      <a:accent5>
        <a:srgbClr val="F37321"/>
      </a:accent5>
      <a:accent6>
        <a:srgbClr val="00AEEF"/>
      </a:accent6>
      <a:hlink>
        <a:srgbClr val="183280"/>
      </a:hlink>
      <a:folHlink>
        <a:srgbClr val="4F296D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121919" tIns="121919" rIns="121919" bIns="121919" numCol="1" spcCol="38100" rtlCol="0" anchor="t">
        <a:spAutoFit/>
      </a:bodyPr>
      <a:lstStyle>
        <a:defPPr algn="ctr" defTabSz="609585" hangingPunct="0">
          <a:buClrTx/>
          <a:defRPr sz="1467" dirty="0">
            <a:solidFill>
              <a:srgbClr val="53565A"/>
            </a:solidFill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5000"/>
          </a:lnSpc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1EFDEF39-6AC0-E04F-908D-38338435BCD8}" vid="{50E445B9-CA59-3C45-8129-945AF3341308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cAfee">
    <a:dk1>
      <a:srgbClr val="53565A"/>
    </a:dk1>
    <a:lt1>
      <a:srgbClr val="FFFFFF"/>
    </a:lt1>
    <a:dk2>
      <a:srgbClr val="75160D"/>
    </a:dk2>
    <a:lt2>
      <a:srgbClr val="C01818"/>
    </a:lt2>
    <a:accent1>
      <a:srgbClr val="C01818"/>
    </a:accent1>
    <a:accent2>
      <a:srgbClr val="939598"/>
    </a:accent2>
    <a:accent3>
      <a:srgbClr val="005FAE"/>
    </a:accent3>
    <a:accent4>
      <a:srgbClr val="73439A"/>
    </a:accent4>
    <a:accent5>
      <a:srgbClr val="F37321"/>
    </a:accent5>
    <a:accent6>
      <a:srgbClr val="00AEEF"/>
    </a:accent6>
    <a:hlink>
      <a:srgbClr val="183280"/>
    </a:hlink>
    <a:folHlink>
      <a:srgbClr val="4F296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493</Words>
  <Application>Microsoft Office PowerPoint</Application>
  <PresentationFormat>와이드스크린</PresentationFormat>
  <Paragraphs>66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Intel Clear</vt:lpstr>
      <vt:lpstr>Noto Sans Symbols</vt:lpstr>
      <vt:lpstr>맑은 고딕</vt:lpstr>
      <vt:lpstr>Arial</vt:lpstr>
      <vt:lpstr>Open Sans</vt:lpstr>
      <vt:lpstr>Poppins</vt:lpstr>
      <vt:lpstr>Wingdings</vt:lpstr>
      <vt:lpstr>Office 테마</vt:lpstr>
      <vt:lpstr>4_Office Theme</vt:lpstr>
      <vt:lpstr>PowerPoint 프레젠테이션</vt:lpstr>
      <vt:lpstr>Zero Trust ? Availability?</vt:lpstr>
      <vt:lpstr>Application of Web Isolation Technology</vt:lpstr>
      <vt:lpstr>PowerPoint 프레젠테이션</vt:lpstr>
      <vt:lpstr>Web Isolation Solution Implementation Screen (User Experience)</vt:lpstr>
      <vt:lpstr>Web Isolation Solution Implementation Screen (Webpage Source Code Comparison)</vt:lpstr>
      <vt:lpstr>SWG + SSE (RBI) Function Integration Reference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성흔후</dc:creator>
  <cp:lastModifiedBy>성흔후</cp:lastModifiedBy>
  <cp:revision>5</cp:revision>
  <dcterms:created xsi:type="dcterms:W3CDTF">2025-08-27T05:20:14Z</dcterms:created>
  <dcterms:modified xsi:type="dcterms:W3CDTF">2025-08-27T07:07:55Z</dcterms:modified>
</cp:coreProperties>
</file>